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30"/>
  </p:notesMasterIdLst>
  <p:handoutMasterIdLst>
    <p:handoutMasterId r:id="rId31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40" r:id="rId19"/>
    <p:sldId id="344" r:id="rId20"/>
    <p:sldId id="345" r:id="rId21"/>
    <p:sldId id="346" r:id="rId22"/>
    <p:sldId id="355" r:id="rId23"/>
    <p:sldId id="356" r:id="rId24"/>
    <p:sldId id="357" r:id="rId25"/>
    <p:sldId id="341" r:id="rId26"/>
    <p:sldId id="342" r:id="rId27"/>
    <p:sldId id="343" r:id="rId28"/>
    <p:sldId id="30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5196" autoAdjust="0"/>
  </p:normalViewPr>
  <p:slideViewPr>
    <p:cSldViewPr snapToGrid="0">
      <p:cViewPr varScale="1">
        <p:scale>
          <a:sx n="78" d="100"/>
          <a:sy n="78" d="100"/>
        </p:scale>
        <p:origin x="710" y="5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VAN2627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45" y="3588198"/>
            <a:ext cx="3400089" cy="86149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Pavan Dipak Mali</a:t>
            </a: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Marathwada Mitra Mandal’s College Of Engineering Pune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827905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</a:t>
            </a:r>
            <a:r>
              <a:rPr lang="en-US" sz="32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5138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US" dirty="0"/>
              <a:t>STU6791db886388e1737612168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7190" y="2102230"/>
            <a:ext cx="6431280" cy="360798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lvl="0"/>
            <a:r>
              <a:rPr lang="en-US" sz="2800" dirty="0"/>
              <a:t>Agricultural performance varies across different seasons. </a:t>
            </a:r>
          </a:p>
          <a:p>
            <a:pPr lvl="0"/>
            <a:r>
              <a:rPr lang="en-US" sz="2800" dirty="0"/>
              <a:t>Environmental conditions, farming practices, resource availability, and market conditions influence agricultural outcomes. </a:t>
            </a:r>
          </a:p>
          <a:p>
            <a:pPr lvl="0"/>
            <a:r>
              <a:rPr lang="en-US" sz="2800" dirty="0"/>
              <a:t>Raw agricultural data does not clearly reveal seasonal patterns and performance differences. </a:t>
            </a:r>
          </a:p>
          <a:p>
            <a:pPr lvl="0"/>
            <a:r>
              <a:rPr lang="en-US" sz="2800" dirty="0"/>
              <a:t>The project aims to analyze agricultural data to identify </a:t>
            </a:r>
            <a:r>
              <a:rPr lang="en-US" sz="2800" b="1" dirty="0"/>
              <a:t>seasonal patterns, trends, relationships, and variations in agricultural performance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521538-D1F1-9827-4DC3-2D739F82C414}"/>
              </a:ext>
            </a:extLst>
          </p:cNvPr>
          <p:cNvSpPr txBox="1"/>
          <p:nvPr/>
        </p:nvSpPr>
        <p:spPr>
          <a:xfrm>
            <a:off x="606638" y="2118050"/>
            <a:ext cx="71339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Seasonal Agriculture Performance Analysis</a:t>
            </a:r>
            <a:r>
              <a:rPr lang="en-US" dirty="0"/>
              <a:t> project focuses on understanding how agricultural performance changes across </a:t>
            </a:r>
            <a:r>
              <a:rPr lang="en-US" b="1" dirty="0"/>
              <a:t>Kharif, Rabi, and Zaid seasons</a:t>
            </a:r>
            <a:r>
              <a:rPr lang="en-US" dirty="0"/>
              <a:t>. The project analyzes agricultural, environmental, resource, and economic data after proper </a:t>
            </a:r>
            <a:r>
              <a:rPr lang="en-US" b="1" dirty="0"/>
              <a:t>data cleaning and preparation</a:t>
            </a:r>
            <a:r>
              <a:rPr lang="en-US" dirty="0"/>
              <a:t>. Different statistical and visualization techniques are used to compare </a:t>
            </a:r>
            <a:r>
              <a:rPr lang="en-US" b="1" dirty="0"/>
              <a:t>yield, production, revenue, profit, cost, rainfall, temperature, water usage, and water efficiency</a:t>
            </a:r>
            <a:r>
              <a:rPr lang="en-US" dirty="0"/>
              <a:t> across seasons. Correlation analysis is further used to identify relationships between important variables. The overall analysis helps identify </a:t>
            </a:r>
            <a:r>
              <a:rPr lang="en-US" b="1" dirty="0"/>
              <a:t>seasonal patterns, differences, and meaningful insights</a:t>
            </a:r>
            <a:r>
              <a:rPr lang="en-US" dirty="0"/>
              <a:t> that can support evidence-based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Autofit/>
          </a:bodyPr>
          <a:lstStyle/>
          <a:p>
            <a:pPr lvl="0"/>
            <a:r>
              <a:rPr lang="en-US" sz="1800" b="1" dirty="0"/>
              <a:t>Farmers</a:t>
            </a:r>
            <a:r>
              <a:rPr lang="en-US" sz="1800" dirty="0"/>
              <a:t> – to understand seasonal crop performance and resource usage. </a:t>
            </a:r>
          </a:p>
          <a:p>
            <a:pPr lvl="0"/>
            <a:r>
              <a:rPr lang="en-US" sz="1800" b="1" dirty="0"/>
              <a:t>Agricultural Planners</a:t>
            </a:r>
            <a:r>
              <a:rPr lang="en-US" sz="1800" dirty="0"/>
              <a:t> – to support seasonal planning and decision-making. </a:t>
            </a:r>
          </a:p>
          <a:p>
            <a:pPr lvl="0"/>
            <a:r>
              <a:rPr lang="en-US" sz="1800" b="1" dirty="0"/>
              <a:t>Agricultural Researchers</a:t>
            </a:r>
            <a:r>
              <a:rPr lang="en-US" sz="1800" dirty="0"/>
              <a:t> – to study seasonal patterns and relationships. </a:t>
            </a:r>
          </a:p>
          <a:p>
            <a:pPr lvl="0"/>
            <a:r>
              <a:rPr lang="en-US" sz="1800" b="1" dirty="0"/>
              <a:t>Government &amp; Agricultural Departments</a:t>
            </a:r>
            <a:r>
              <a:rPr lang="en-US" sz="1800" dirty="0"/>
              <a:t> – to support data-driven agricultural planning. </a:t>
            </a:r>
          </a:p>
          <a:p>
            <a:pPr lvl="0"/>
            <a:r>
              <a:rPr lang="en-US" sz="1800" b="1" dirty="0"/>
              <a:t>Agricultural Analysts</a:t>
            </a:r>
            <a:r>
              <a:rPr lang="en-US" sz="1800" dirty="0"/>
              <a:t> – to analyze trends, performance, and seasonal variations.</a:t>
            </a:r>
          </a:p>
          <a:p>
            <a:pPr algn="just"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33010" y="1463105"/>
            <a:ext cx="9027702" cy="5243448"/>
          </a:xfrm>
        </p:spPr>
        <p:txBody>
          <a:bodyPr>
            <a:normAutofit/>
          </a:bodyPr>
          <a:lstStyle/>
          <a:p>
            <a:pPr lvl="0"/>
            <a:r>
              <a:rPr lang="en-US" sz="1800" b="1" dirty="0"/>
              <a:t>Python</a:t>
            </a:r>
            <a:r>
              <a:rPr lang="en-US" sz="1800" dirty="0"/>
              <a:t> – Data analysis and processing </a:t>
            </a:r>
          </a:p>
          <a:p>
            <a:pPr lvl="0"/>
            <a:r>
              <a:rPr lang="en-US" sz="1800" b="1" dirty="0"/>
              <a:t>Pandas</a:t>
            </a:r>
            <a:r>
              <a:rPr lang="en-US" sz="1800" dirty="0"/>
              <a:t> – Data cleaning and manipulation </a:t>
            </a:r>
          </a:p>
          <a:p>
            <a:pPr lvl="0"/>
            <a:r>
              <a:rPr lang="en-US" sz="1800" b="1" dirty="0"/>
              <a:t>NumPy</a:t>
            </a:r>
            <a:r>
              <a:rPr lang="en-US" sz="1800" dirty="0"/>
              <a:t> – Numerical computations </a:t>
            </a:r>
          </a:p>
          <a:p>
            <a:pPr lvl="0"/>
            <a:r>
              <a:rPr lang="en-US" sz="1800" b="1" dirty="0"/>
              <a:t>Matplotlib</a:t>
            </a:r>
            <a:r>
              <a:rPr lang="en-US" sz="1800" dirty="0"/>
              <a:t> – Data visualization </a:t>
            </a:r>
          </a:p>
          <a:p>
            <a:pPr lvl="0"/>
            <a:r>
              <a:rPr lang="en-US" sz="1800" b="1" dirty="0"/>
              <a:t>Seaborn</a:t>
            </a:r>
            <a:r>
              <a:rPr lang="en-US" sz="1800" dirty="0"/>
              <a:t> – Statistical visualization </a:t>
            </a:r>
          </a:p>
          <a:p>
            <a:pPr lvl="0"/>
            <a:r>
              <a:rPr lang="en-US" sz="1800" b="1" dirty="0"/>
              <a:t>Google </a:t>
            </a:r>
            <a:r>
              <a:rPr lang="en-US" sz="1800" b="1" dirty="0" err="1"/>
              <a:t>Colab</a:t>
            </a:r>
            <a:r>
              <a:rPr lang="en-US" sz="1800" dirty="0"/>
              <a:t> – Development and execution environment</a:t>
            </a:r>
          </a:p>
          <a:p>
            <a:pPr lvl="1"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F8132D-85AE-3889-4AD7-BE602E219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473126"/>
            <a:ext cx="9596587" cy="425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20AC8-A273-ACC1-0565-F728C672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E12C28-EA35-B55D-E0CE-F2C82AB05B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A4D58F1-6301-BB17-D761-13C4113A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166863B-97AD-67DA-CBCC-BB5AF10820E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425C33EF-5E95-13EF-C11D-6BB35CB8E8B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4BCF2D-3467-B87F-166A-EFB07FF5C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388200"/>
            <a:ext cx="7932493" cy="469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16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D29C-707E-B96F-AF04-2B5F5D48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D1B74B-5DFD-E75C-C99C-9A95F0B249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DB4A63B-1843-1178-F7BF-C27E9A7D0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4EA4D0E-FC11-B24F-CD4F-EC5BC98D37C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46672288-0195-2A70-91D3-AE23BBE59E2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4E51B7-82B8-B041-7429-868280C37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10" y="1458487"/>
            <a:ext cx="8733453" cy="446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85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6AB59-1B3A-53AE-AA36-650CE00BC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A6844A-23BA-A63F-36ED-ACA8C3A719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911D2BD-A7DB-3723-BD56-80C7F1D8B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95FC262-D516-BB5D-B959-8D1657A961C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41558239-CC51-3E96-4F02-6C800DA00F1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067739-3D5A-D4F4-CC17-E71265EF8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01586"/>
            <a:ext cx="7973596" cy="501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04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F2F5-4C5E-54A3-CE28-2BC477F64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3679B9-BFB2-D26C-CE0B-3D472B4106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45E8A23-DB6F-A9BE-EBA9-7D58C9C6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F07AF34-12ED-12BA-70DF-CFC570D371D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AB1B510-0F66-210F-7702-419EE683C57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FCC6B6-A8E2-1406-4AA3-D20770E51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77" y="1387028"/>
            <a:ext cx="7807048" cy="497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F313A-F069-7843-9764-90EED2DB5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3BC750-AF18-67FC-6D6F-1E80F26BEE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68B951A-14EF-E999-4679-64DB8497B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ABAEAFA-B3EB-844F-3115-13B7EB7B0E8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BA06255-078A-96EF-D6FE-BCCB209F1CA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178B9B-3B15-F62A-AEDF-A6343814B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14" y="1339378"/>
            <a:ext cx="6660084" cy="513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30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1046E-9461-E9C7-C75C-A9E21DD21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8F5E69-4908-A59B-C475-30739D5151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3229DC5-4B88-BCB9-07CE-9AE6F5F5C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4687119-7CE2-6A05-91ED-A83FE3FED0A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AEB8730-29AD-B1BC-8100-D348402E54F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7FF1CF-AEC9-E399-A37B-CAC1688EF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01" y="1085326"/>
            <a:ext cx="6673358" cy="532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9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FE1D5-3EA6-4B2B-B6B9-11782F18C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CF5C38-5ABE-7F31-5BE8-AD21E4CFE8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AE29159-027D-F42E-8D21-AEE4CC9A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481A05B-5AA3-445F-5805-7273D18FF4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EAAD8DF-A55F-0DD5-72D7-4B0F93AF3CA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B7BDB5-6D34-BCE1-7B74-533BC5709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97" y="1275371"/>
            <a:ext cx="7325923" cy="510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25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B49EC-A380-0AA5-FF15-D897065FF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58C3AC-800A-B9A9-09E2-A12D3928C2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C91AA9-E76B-A32B-72B2-94DE1964B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7C413C1-60A9-F208-17FE-DFFECE2A2F8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6E6268E-7B16-7A03-2A1E-B9F660900F4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7F1B07-5905-75CE-654A-988D05618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11" y="1275371"/>
            <a:ext cx="6843144" cy="510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374F81-C056-7C92-3442-4D5F53A49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63961"/>
            <a:ext cx="7472965" cy="522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FB47DF-497E-AD62-9D74-876EDA55A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46" y="1201586"/>
            <a:ext cx="7970556" cy="518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43C723-06AD-066D-9776-FBB524081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01586"/>
            <a:ext cx="7592646" cy="514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3B851A-9732-7E34-BFB1-D00EB464E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48" y="1423262"/>
            <a:ext cx="6518080" cy="514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6ADA0-F452-8434-104E-8EE6F992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6B08AC-4FE7-E07E-A239-DB6B5FFBD3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B034039-5338-794F-5BA7-DBF846532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EE5F9DB-864B-6DD1-5FDB-64EF152DCD9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8D0E8D3-8D5B-4E55-2FFE-A90F15A1A73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E8D20F9-5C8D-557A-EC91-19F8C8513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0B1661-3201-6CA0-66CA-ABE41375B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92" y="1275371"/>
            <a:ext cx="7044363" cy="516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31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29D9F-E437-26AD-8B3D-4E0367C81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C5D110-F857-80DB-D488-8DB4593C52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297C5BA-D9C5-515E-8C27-A13115DB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AC1F68D-91C0-76B1-84B9-739DC44BC1D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71F38FD-314B-1137-6684-282A1E4C16B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E617CDA5-D6EE-489E-A28E-97DB8C0CF8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743A72-C8ED-17F0-36A3-63D77AF4C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35" y="1275371"/>
            <a:ext cx="7171919" cy="505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16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B41AF-0FFB-A908-37AC-8286E7869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56C5DA-9241-96D3-561A-0162E05D39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C0CD32E-E87D-91EF-974C-F1A71EB35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68FB676-1A5C-ECEC-6204-69E583B4CD6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8A4FEC6-B393-0502-2E5A-4BA108C405B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B96FB24-2712-9E41-17F2-9CB75F1B46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E5C0C-14B2-1471-0CA6-3CE489298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4" y="1290550"/>
            <a:ext cx="6777601" cy="527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8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AF4FD0-53FC-D53B-3222-E0D100801AC5}"/>
              </a:ext>
            </a:extLst>
          </p:cNvPr>
          <p:cNvSpPr txBox="1"/>
          <p:nvPr/>
        </p:nvSpPr>
        <p:spPr>
          <a:xfrm>
            <a:off x="826841" y="1759795"/>
            <a:ext cx="67345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Multi-year analysis</a:t>
            </a:r>
            <a:r>
              <a:rPr lang="en-US" sz="2000" dirty="0"/>
              <a:t> – Analyze agricultural performance over multiple years to identify long-term seasonal trends.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Regional analysis</a:t>
            </a:r>
            <a:r>
              <a:rPr lang="en-US" sz="2000" dirty="0"/>
              <a:t> – Compare agricultural performance across different geographical regions.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Predictive analysis</a:t>
            </a:r>
            <a:r>
              <a:rPr lang="en-US" sz="2000" dirty="0"/>
              <a:t> – Use machine learning to predict crop yield, production, and profit.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Weather integration</a:t>
            </a:r>
            <a:r>
              <a:rPr lang="en-US" sz="2000" dirty="0"/>
              <a:t> – Include real-time weather and climate data for better seasonal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Crop recommendations</a:t>
            </a:r>
            <a:r>
              <a:rPr lang="en-US" sz="2000" dirty="0"/>
              <a:t> – Suggest suitable crops based on seasonal and environmental conditions.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Interactive dashboard</a:t>
            </a:r>
            <a:r>
              <a:rPr lang="en-US" sz="2000" dirty="0"/>
              <a:t> – Develop a dashboard for farmers and agricultural planners to explore seasonal insights.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4F4E6A-122D-C3AF-E9E0-4FD65D96523A}"/>
              </a:ext>
            </a:extLst>
          </p:cNvPr>
          <p:cNvSpPr txBox="1"/>
          <p:nvPr/>
        </p:nvSpPr>
        <p:spPr>
          <a:xfrm>
            <a:off x="561750" y="2684534"/>
            <a:ext cx="798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//github.com/PAVAN2627/Seasonal-Agriculture-Performance-Analysis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8FAE95-86D8-5206-5D96-4BB304200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670" y="1593906"/>
            <a:ext cx="7582557" cy="487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6492" y="1379237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79859" y="3017663"/>
            <a:ext cx="3285988" cy="822674"/>
          </a:xfrm>
        </p:spPr>
        <p:txBody>
          <a:bodyPr>
            <a:normAutofit/>
          </a:bodyPr>
          <a:lstStyle/>
          <a:p>
            <a:r>
              <a:rPr lang="en-US" sz="1600" dirty="0"/>
              <a:t>VOIS AICTE Batch1 2026–2027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584</TotalTime>
  <Words>474</Words>
  <Application>Microsoft Office PowerPoint</Application>
  <PresentationFormat>Widescreen</PresentationFormat>
  <Paragraphs>62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Trebuchet MS</vt:lpstr>
      <vt:lpstr>Wingdings</vt:lpstr>
      <vt:lpstr>Wingdings 3</vt:lpstr>
      <vt:lpstr>Facet</vt:lpstr>
      <vt:lpstr>Project Title -Seasonal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Pavan Mali</cp:lastModifiedBy>
  <cp:revision>98</cp:revision>
  <dcterms:created xsi:type="dcterms:W3CDTF">2021-07-11T13:13:15Z</dcterms:created>
  <dcterms:modified xsi:type="dcterms:W3CDTF">2026-09-04T16:12:15Z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